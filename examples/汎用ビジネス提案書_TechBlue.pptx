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ECF2FC"/>
                </a:solidFill>
                <a:latin typeface="Trebuchet MS"/>
              </a:rPr>
              <a:t>業務効率化プラットフォーム導入のご提案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ECF2FC"/>
                </a:solidFill>
                <a:latin typeface="Calibri"/>
              </a:rPr>
              <a:t>チームの時間を、創造的な仕事へ。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Trebuchet MS"/>
              </a:rPr>
              <a:t>現状の課題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5364327" cy="22174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部門ごとにツールが分断され、情報共有に平均2.5時間/日を消費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08760"/>
            <a:ext cx="5364327" cy="22174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79895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183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手作業のレポート集計により月次決算が5営業日遅延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91939"/>
            <a:ext cx="5364327" cy="22174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93107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ナレッジが属人化し、引き継ぎコストが増大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4091939"/>
            <a:ext cx="5364327" cy="22174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9895" y="4293107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183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リモートワーク環境での進捗可視化が困難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788296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788296"/>
                </a:solidFill>
                <a:latin typeface="Calibri"/>
              </a:rPr>
              <a:t>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Trebuchet MS"/>
              </a:rPr>
              <a:t>従来手法との比較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Trebuchet MS"/>
              </a:rPr>
              <a:t>従来のワークフロー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64327" cy="41605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メール・Excel・口頭連絡が混在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集計・転記などの手作業が中心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状況把握に都度ヒアリングが必要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ミスの発見が月末にずれ込む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1C7293"/>
                </a:solidFill>
                <a:latin typeface="Trebuchet MS"/>
              </a:rPr>
              <a:t>導入後のワークフロー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2148840"/>
            <a:ext cx="5364327" cy="416052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情報を</a:t>
            </a:r>
            <a:r>
              <a:rPr sz="1600" b="1" i="0">
                <a:solidFill>
                  <a:srgbClr val="282D3C"/>
                </a:solidFill>
                <a:latin typeface="Calibri"/>
              </a:rPr>
              <a:t>単一プラットフォーム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に集約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集計・レポートは完全自動生成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ダッシュボードでリアルタイム可視化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02C39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82D3C"/>
                </a:solidFill>
                <a:latin typeface="Calibri"/>
              </a:rPr>
              <a:t>異常値は即日アラートで検知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788296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788296"/>
                </a:solidFill>
                <a:latin typeface="Calibri"/>
              </a:rPr>
              <a:t>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Trebuchet MS"/>
              </a:rPr>
              <a:t>ソリューションの3つの柱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454298" cy="4800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自動データ連携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282D3C"/>
                </a:solidFill>
                <a:latin typeface="Calibri"/>
              </a:rPr>
              <a:t>既存の基幹システム・SaaSとAPI連携し、転記作業をゼロに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508760"/>
            <a:ext cx="3454298" cy="4800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AIレポート生成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282D3C"/>
                </a:solidFill>
                <a:latin typeface="Calibri"/>
              </a:rPr>
              <a:t>日次・週次・月次レポートを自動作成し、確認作業のみに短縮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08760"/>
            <a:ext cx="3454298" cy="480060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ナレッジハブ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282D3C"/>
                </a:solidFill>
                <a:latin typeface="Calibri"/>
              </a:rPr>
              <a:t>業務手順とノウハウを一元管理し、検索3秒で誰でも参照可能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788296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788296"/>
                </a:solidFill>
                <a:latin typeface="Calibri"/>
              </a:rPr>
              <a:t>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Trebuchet MS"/>
              </a:rPr>
              <a:t>導入ステップ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2046701" y="2889503"/>
            <a:ext cx="8098292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9461" y="251460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現状分析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788296"/>
                </a:solidFill>
                <a:latin typeface="Calibri"/>
              </a:rPr>
              <a:t>業務フローの棚卸しと課題の定量化（2週間）</a:t>
            </a:r>
          </a:p>
        </p:txBody>
      </p:sp>
      <p:sp>
        <p:nvSpPr>
          <p:cNvPr id="6" name="Oval 5"/>
          <p:cNvSpPr/>
          <p:nvPr/>
        </p:nvSpPr>
        <p:spPr>
          <a:xfrm>
            <a:off x="3488344" y="251460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7251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PoC実施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788296"/>
                </a:solidFill>
                <a:latin typeface="Calibri"/>
              </a:rPr>
              <a:t>1部門で効果検証、KPIを測定（1ヶ月）</a:t>
            </a:r>
          </a:p>
        </p:txBody>
      </p:sp>
      <p:sp>
        <p:nvSpPr>
          <p:cNvPr id="8" name="Oval 7"/>
          <p:cNvSpPr/>
          <p:nvPr/>
        </p:nvSpPr>
        <p:spPr>
          <a:xfrm>
            <a:off x="5707227" y="251460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6134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段階展開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788296"/>
                </a:solidFill>
                <a:latin typeface="Calibri"/>
              </a:rPr>
              <a:t>部門単位でロールアウト（3ヶ月）</a:t>
            </a:r>
          </a:p>
        </p:txBody>
      </p:sp>
      <p:sp>
        <p:nvSpPr>
          <p:cNvPr id="10" name="Oval 9"/>
          <p:cNvSpPr/>
          <p:nvPr/>
        </p:nvSpPr>
        <p:spPr>
          <a:xfrm>
            <a:off x="7926110" y="251460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017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全社定着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788296"/>
                </a:solidFill>
                <a:latin typeface="Calibri"/>
              </a:rPr>
              <a:t>研修と運用ルールの整備（2ヶ月）</a:t>
            </a:r>
          </a:p>
        </p:txBody>
      </p:sp>
      <p:sp>
        <p:nvSpPr>
          <p:cNvPr id="12" name="Oval 11"/>
          <p:cNvSpPr/>
          <p:nvPr/>
        </p:nvSpPr>
        <p:spPr>
          <a:xfrm>
            <a:off x="10144993" y="251460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3900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効果測定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788296"/>
                </a:solidFill>
                <a:latin typeface="Calibri"/>
              </a:rPr>
              <a:t>ROIレビューと改善サイクル確立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788296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788296"/>
                </a:solidFill>
                <a:latin typeface="Calibri"/>
              </a:rPr>
              <a:t>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Trebuchet MS"/>
              </a:rPr>
              <a:t>期待される効果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3454298" cy="406908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情報共有コストを60%削減（年間換算 4,800時間）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508760"/>
            <a:ext cx="3454298" cy="406908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月次決算を5営業日から2営業日へ短縮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8756" y="1508760"/>
            <a:ext cx="3454298" cy="4069080"/>
          </a:xfrm>
          <a:prstGeom prst="roundRect">
            <a:avLst>
              <a:gd name="adj" fmla="val 12000"/>
            </a:avLst>
          </a:prstGeom>
          <a:solidFill>
            <a:srgbClr val="F0F5FC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1E2761"/>
                </a:solidFill>
                <a:latin typeface="Trebuchet MS"/>
              </a:rPr>
              <a:t>新人の立ち上がり期間を平均3ヶ月から1ヶ月へ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1">
                <a:solidFill>
                  <a:srgbClr val="1C7293"/>
                </a:solidFill>
                <a:latin typeface="Calibri"/>
              </a:rPr>
              <a:t>投資回収期間は導入後 約8ヶ月を見込みます。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788296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788296"/>
                </a:solidFill>
                <a:latin typeface="Calibri"/>
              </a:rPr>
              <a:t>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ECF2FC"/>
                </a:solidFill>
                <a:latin typeface="Trebuchet MS"/>
              </a:rP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ECF2FC"/>
                </a:solidFill>
                <a:latin typeface="Calibri"/>
              </a:rPr>
              <a:t>まずは2週間の無償トライアルから始めませんか？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