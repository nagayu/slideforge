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22695" y="2313432"/>
            <a:ext cx="146304" cy="146304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463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36454F"/>
                </a:solidFill>
                <a:latin typeface="Georgia"/>
              </a:rPr>
              <a:t>業務効率化プラットフォーム導入のご提案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28655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0" i="1">
                <a:solidFill>
                  <a:srgbClr val="32373C"/>
                </a:solidFill>
                <a:latin typeface="Calibri"/>
              </a:rPr>
              <a:t>チームの時間を、創造的な仕事へ。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6454F"/>
                </a:solidFill>
                <a:latin typeface="Georgia"/>
              </a:rPr>
              <a:t>現状の課題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5364327" cy="221742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部門ごとにツールが分断され、情報共有に平均2.5時間/日を消費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8727" y="1508760"/>
            <a:ext cx="5364327" cy="221742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79895" y="1709928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8183" y="2203704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手作業のレポート集計により月次決算が5営業日遅延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91939"/>
            <a:ext cx="5364327" cy="221742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49808" y="4293107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4786883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ナレッジが属人化し、引き継ぎコストが増大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8727" y="4091939"/>
            <a:ext cx="5364327" cy="221742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9895" y="4293107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8183" y="4786883"/>
            <a:ext cx="4925415" cy="119329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リモートワーク環境での進捗可視化が困難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69BA0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69BA0"/>
                </a:solidFill>
                <a:latin typeface="Calibri"/>
              </a:rPr>
              <a:t>   ·   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6454F"/>
                </a:solidFill>
                <a:latin typeface="Georgia"/>
              </a:rPr>
              <a:t>従来手法との比較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508760"/>
            <a:ext cx="5364327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6E7882"/>
                </a:solidFill>
                <a:latin typeface="Georgia"/>
              </a:rPr>
              <a:t>従来のワークフロー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148840"/>
            <a:ext cx="5364327" cy="416052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2373C"/>
                </a:solidFill>
                <a:latin typeface="Calibri"/>
              </a:rPr>
              <a:t>メール・Excel・口頭連絡が混在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2373C"/>
                </a:solidFill>
                <a:latin typeface="Calibri"/>
              </a:rPr>
              <a:t>集計・転記などの手作業が中心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2373C"/>
                </a:solidFill>
                <a:latin typeface="Calibri"/>
              </a:rPr>
              <a:t>状況把握に都度ヒアリングが必要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2373C"/>
                </a:solidFill>
                <a:latin typeface="Calibri"/>
              </a:rPr>
              <a:t>ミスの発見が月末にずれ込む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78727" y="1508760"/>
            <a:ext cx="5364327" cy="5486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000" b="1" i="0">
                <a:solidFill>
                  <a:srgbClr val="6E7882"/>
                </a:solidFill>
                <a:latin typeface="Georgia"/>
              </a:rPr>
              <a:t>導入後のワークフロー</a:t>
            </a:r>
          </a:p>
        </p:txBody>
      </p:sp>
      <p:sp>
        <p:nvSpPr>
          <p:cNvPr id="6" name="Rectangle 5"/>
          <p:cNvSpPr/>
          <p:nvPr/>
        </p:nvSpPr>
        <p:spPr>
          <a:xfrm>
            <a:off x="6278727" y="2148840"/>
            <a:ext cx="5364327" cy="416052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01168" rIns="201168" tIns="164592" bIns="164592"/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2373C"/>
                </a:solidFill>
                <a:latin typeface="Calibri"/>
              </a:rPr>
              <a:t>情報を</a:t>
            </a:r>
            <a:r>
              <a:rPr sz="1600" b="1" i="0">
                <a:solidFill>
                  <a:srgbClr val="32373C"/>
                </a:solidFill>
                <a:latin typeface="Calibri"/>
              </a:rPr>
              <a:t>単一プラットフォーム</a:t>
            </a:r>
            <a:r>
              <a:rPr sz="1600" b="0" i="0">
                <a:solidFill>
                  <a:srgbClr val="32373C"/>
                </a:solidFill>
                <a:latin typeface="Calibri"/>
              </a:rPr>
              <a:t>に集約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2373C"/>
                </a:solidFill>
                <a:latin typeface="Calibri"/>
              </a:rPr>
              <a:t>集計・レポートは完全自動生成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2373C"/>
                </a:solidFill>
                <a:latin typeface="Calibri"/>
              </a:rPr>
              <a:t>ダッシュボードでリアルタイム可視化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1200">
                <a:solidFill>
                  <a:srgbClr val="212121"/>
                </a:solidFill>
                <a:latin typeface="Calibri"/>
              </a:rPr>
              <a:t>–  </a:t>
            </a:r>
            <a:r>
              <a:rPr sz="1600" b="0" i="0">
                <a:solidFill>
                  <a:srgbClr val="32373C"/>
                </a:solidFill>
                <a:latin typeface="Calibri"/>
              </a:rPr>
              <a:t>異常値は即日アラートで検知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69BA0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69BA0"/>
                </a:solidFill>
                <a:latin typeface="Calibri"/>
              </a:rPr>
              <a:t>   ·   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6454F"/>
                </a:solidFill>
                <a:latin typeface="Georgia"/>
              </a:rPr>
              <a:t>ソリューションの3つの柱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3454298" cy="480060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3015386" cy="3776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自動データ連携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2373C"/>
                </a:solidFill>
                <a:latin typeface="Calibri"/>
              </a:rPr>
              <a:t>既存の基幹システム・SaaSとAPI連携し、転記作業をゼロに</a:t>
            </a:r>
          </a:p>
        </p:txBody>
      </p:sp>
      <p:sp>
        <p:nvSpPr>
          <p:cNvPr id="6" name="Rectangle 5"/>
          <p:cNvSpPr/>
          <p:nvPr/>
        </p:nvSpPr>
        <p:spPr>
          <a:xfrm>
            <a:off x="4368698" y="1508760"/>
            <a:ext cx="3454298" cy="480060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69866" y="1709928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8154" y="2203704"/>
            <a:ext cx="3015386" cy="3776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AIレポート生成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2373C"/>
                </a:solidFill>
                <a:latin typeface="Calibri"/>
              </a:rPr>
              <a:t>日次・週次・月次レポートを自動作成し、確認作業のみに短縮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8756" y="1508760"/>
            <a:ext cx="3454298" cy="480060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89924" y="1709928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8212" y="2203704"/>
            <a:ext cx="3015386" cy="377647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ナレッジハブ</a:t>
            </a:r>
          </a:p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300" b="0" i="0">
                <a:solidFill>
                  <a:srgbClr val="32373C"/>
                </a:solidFill>
                <a:latin typeface="Calibri"/>
              </a:rPr>
              <a:t>業務手順とノウハウを一元管理し、検索3秒で誰でも参照可能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69BA0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69BA0"/>
                </a:solidFill>
                <a:latin typeface="Calibri"/>
              </a:rPr>
              <a:t>   ·   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6454F"/>
                </a:solidFill>
                <a:latin typeface="Georgia"/>
              </a:rPr>
              <a:t>導入ステップ</a:t>
            </a:r>
          </a:p>
        </p:txBody>
      </p:sp>
      <p:sp>
        <p:nvSpPr>
          <p:cNvPr id="3" name="Rectangle 2"/>
          <p:cNvSpPr/>
          <p:nvPr/>
        </p:nvSpPr>
        <p:spPr>
          <a:xfrm>
            <a:off x="2046701" y="2889503"/>
            <a:ext cx="8098292" cy="27432"/>
          </a:xfrm>
          <a:prstGeom prst="rect">
            <a:avLst/>
          </a:prstGeom>
          <a:solidFill>
            <a:srgbClr val="DCDE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269461" y="2514600"/>
            <a:ext cx="777240" cy="777240"/>
          </a:xfrm>
          <a:prstGeom prst="ellipse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36454F"/>
                </a:solidFill>
                <a:latin typeface="Calibri"/>
              </a:rPr>
              <a:t>現状分析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69BA0"/>
                </a:solidFill>
                <a:latin typeface="Calibri"/>
              </a:rPr>
              <a:t>業務フローの棚卸しと課題の定量化（2週間）</a:t>
            </a:r>
          </a:p>
        </p:txBody>
      </p:sp>
      <p:sp>
        <p:nvSpPr>
          <p:cNvPr id="6" name="Oval 5"/>
          <p:cNvSpPr/>
          <p:nvPr/>
        </p:nvSpPr>
        <p:spPr>
          <a:xfrm>
            <a:off x="3488344" y="2514600"/>
            <a:ext cx="777240" cy="777240"/>
          </a:xfrm>
          <a:prstGeom prst="ellipse">
            <a:avLst/>
          </a:prstGeom>
          <a:solidFill>
            <a:srgbClr val="6E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77251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36454F"/>
                </a:solidFill>
                <a:latin typeface="Calibri"/>
              </a:rPr>
              <a:t>PoC実施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69BA0"/>
                </a:solidFill>
                <a:latin typeface="Calibri"/>
              </a:rPr>
              <a:t>1部門で効果検証、KPIを測定（1ヶ月）</a:t>
            </a:r>
          </a:p>
        </p:txBody>
      </p:sp>
      <p:sp>
        <p:nvSpPr>
          <p:cNvPr id="8" name="Oval 7"/>
          <p:cNvSpPr/>
          <p:nvPr/>
        </p:nvSpPr>
        <p:spPr>
          <a:xfrm>
            <a:off x="5707227" y="2514600"/>
            <a:ext cx="777240" cy="777240"/>
          </a:xfrm>
          <a:prstGeom prst="ellipse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6134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36454F"/>
                </a:solidFill>
                <a:latin typeface="Calibri"/>
              </a:rPr>
              <a:t>段階展開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69BA0"/>
                </a:solidFill>
                <a:latin typeface="Calibri"/>
              </a:rPr>
              <a:t>部門単位でロールアウト（3ヶ月）</a:t>
            </a:r>
          </a:p>
        </p:txBody>
      </p:sp>
      <p:sp>
        <p:nvSpPr>
          <p:cNvPr id="10" name="Oval 9"/>
          <p:cNvSpPr/>
          <p:nvPr/>
        </p:nvSpPr>
        <p:spPr>
          <a:xfrm>
            <a:off x="7926110" y="2514600"/>
            <a:ext cx="777240" cy="777240"/>
          </a:xfrm>
          <a:prstGeom prst="ellipse">
            <a:avLst/>
          </a:prstGeom>
          <a:solidFill>
            <a:srgbClr val="6E78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017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36454F"/>
                </a:solidFill>
                <a:latin typeface="Calibri"/>
              </a:rPr>
              <a:t>全社定着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69BA0"/>
                </a:solidFill>
                <a:latin typeface="Calibri"/>
              </a:rPr>
              <a:t>研修と運用ルールの整備（2ヶ月）</a:t>
            </a:r>
          </a:p>
        </p:txBody>
      </p:sp>
      <p:sp>
        <p:nvSpPr>
          <p:cNvPr id="12" name="Oval 11"/>
          <p:cNvSpPr/>
          <p:nvPr/>
        </p:nvSpPr>
        <p:spPr>
          <a:xfrm>
            <a:off x="10144993" y="2514600"/>
            <a:ext cx="777240" cy="777240"/>
          </a:xfrm>
          <a:prstGeom prst="ellipse">
            <a:avLst/>
          </a:prstGeom>
          <a:solidFill>
            <a:srgbClr val="36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33900" y="3428999"/>
            <a:ext cx="1999427" cy="1188719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400"/>
              </a:spcAft>
            </a:pPr>
            <a:r>
              <a:rPr sz="1400" b="1" i="0">
                <a:solidFill>
                  <a:srgbClr val="36454F"/>
                </a:solidFill>
                <a:latin typeface="Calibri"/>
              </a:rPr>
              <a:t>効果測定</a:t>
            </a:r>
          </a:p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200" b="0" i="0">
                <a:solidFill>
                  <a:srgbClr val="969BA0"/>
                </a:solidFill>
                <a:latin typeface="Calibri"/>
              </a:rPr>
              <a:t>ROIレビューと改善サイクル確立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69BA0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69BA0"/>
                </a:solidFill>
                <a:latin typeface="Calibri"/>
              </a:rPr>
              <a:t>   ·   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94415" cy="86868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3200" b="1" i="0">
                <a:solidFill>
                  <a:srgbClr val="36454F"/>
                </a:solidFill>
                <a:latin typeface="Georgia"/>
              </a:rPr>
              <a:t>期待される効果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08760"/>
            <a:ext cx="3454298" cy="4069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49808" y="1709928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203704"/>
            <a:ext cx="3015386" cy="3044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情報共有コストを60%削減（年間換算 4,800時間）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4368698" y="1508760"/>
            <a:ext cx="3454298" cy="4069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69866" y="1709928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88154" y="2203704"/>
            <a:ext cx="3015386" cy="3044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月次決算を5営業日から2営業日へ短縮</a:t>
            </a:r>
          </a:p>
        </p:txBody>
      </p:sp>
      <p:sp>
        <p:nvSpPr>
          <p:cNvPr id="9" name="Rectangle 8"/>
          <p:cNvSpPr/>
          <p:nvPr/>
        </p:nvSpPr>
        <p:spPr>
          <a:xfrm>
            <a:off x="8188756" y="1508760"/>
            <a:ext cx="3454298" cy="4069080"/>
          </a:xfrm>
          <a:prstGeom prst="rect">
            <a:avLst/>
          </a:prstGeom>
          <a:solidFill>
            <a:srgbClr val="F4F5F6"/>
          </a:solidFill>
          <a:ln w="12700">
            <a:solidFill>
              <a:srgbClr val="DC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389924" y="1709928"/>
            <a:ext cx="384048" cy="384048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08212" y="2203704"/>
            <a:ext cx="3015386" cy="3044952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700" b="1" i="0">
                <a:solidFill>
                  <a:srgbClr val="36454F"/>
                </a:solidFill>
                <a:latin typeface="Georgia"/>
              </a:rPr>
              <a:t>新人の立ち上がり期間を平均3ヶ月から1ヶ月へ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15000"/>
            <a:ext cx="11094415" cy="59436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200"/>
              </a:spcAft>
            </a:pPr>
            <a:r>
              <a:rPr sz="1600" b="1" i="1">
                <a:solidFill>
                  <a:srgbClr val="6E7882"/>
                </a:solidFill>
                <a:latin typeface="Calibri"/>
              </a:rPr>
              <a:t>投資回収期間は導入後 約8ヶ月を見込みます。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000" b="0" i="0">
                <a:solidFill>
                  <a:srgbClr val="969BA0"/>
                </a:solidFill>
                <a:latin typeface="Calibri"/>
              </a:rPr>
              <a:t>業務効率化プラットフォーム導入のご提案</a:t>
            </a:r>
            <a:r>
              <a:rPr sz="1000">
                <a:solidFill>
                  <a:srgbClr val="969BA0"/>
                </a:solidFill>
                <a:latin typeface="Calibri"/>
              </a:rPr>
              <a:t>   ·  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22695" y="2313432"/>
            <a:ext cx="146304" cy="146304"/>
          </a:xfrm>
          <a:prstGeom prst="ellipse">
            <a:avLst/>
          </a:prstGeom>
          <a:solidFill>
            <a:srgbClr val="2121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651760"/>
            <a:ext cx="10728655" cy="1463040"/>
          </a:xfrm>
          <a:prstGeom prst="rect">
            <a:avLst/>
          </a:prstGeom>
          <a:noFill/>
        </p:spPr>
        <p:txBody>
          <a:bodyPr wrap="square" anchor="ctr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4400" b="1" i="0">
                <a:solidFill>
                  <a:srgbClr val="36454F"/>
                </a:solidFill>
                <a:latin typeface="Georgia"/>
              </a:rPr>
              <a:t>ご清聴ありがとうございました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728655" cy="82296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800" b="0" i="1">
                <a:solidFill>
                  <a:srgbClr val="32373C"/>
                </a:solidFill>
                <a:latin typeface="Calibri"/>
              </a:rPr>
              <a:t>まずは2週間の無償トライアルから始めませんか？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